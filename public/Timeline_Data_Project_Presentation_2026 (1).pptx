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Poppins"/>
      <p:regular r:id="rId20"/>
      <p:bold r:id="rId21"/>
      <p:italic r:id="rId22"/>
      <p:boldItalic r:id="rId23"/>
    </p:embeddedFont>
    <p:embeddedFont>
      <p:font typeface="Urbanist Medium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  <p:embeddedFont>
      <p:font typeface="Poppins Medium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C9EF12-0322-4B04-8911-A4C60C979E15}">
  <a:tblStyle styleId="{61C9EF12-0322-4B04-8911-A4C60C979E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33" Type="http://schemas.openxmlformats.org/officeDocument/2006/relationships/font" Target="fonts/PoppinsMedium-bold.fntdata"/><Relationship Id="rId32" Type="http://schemas.openxmlformats.org/officeDocument/2006/relationships/font" Target="fonts/PoppinsMedium-regular.fntdata"/><Relationship Id="rId35" Type="http://schemas.openxmlformats.org/officeDocument/2006/relationships/font" Target="fonts/PoppinsMedium-boldItalic.fntdata"/><Relationship Id="rId34" Type="http://schemas.openxmlformats.org/officeDocument/2006/relationships/font" Target="fonts/PoppinsMedium-italic.fntdata"/><Relationship Id="rId37" Type="http://schemas.openxmlformats.org/officeDocument/2006/relationships/font" Target="fonts/PoppinsSemiBold-bold.fntdata"/><Relationship Id="rId36" Type="http://schemas.openxmlformats.org/officeDocument/2006/relationships/font" Target="fonts/PoppinsSemiBold-regular.fntdata"/><Relationship Id="rId39" Type="http://schemas.openxmlformats.org/officeDocument/2006/relationships/font" Target="fonts/PoppinsSemiBold-boldItalic.fntdata"/><Relationship Id="rId38" Type="http://schemas.openxmlformats.org/officeDocument/2006/relationships/font" Target="fonts/PoppinsSemiBold-italic.fntdata"/><Relationship Id="rId20" Type="http://schemas.openxmlformats.org/officeDocument/2006/relationships/font" Target="fonts/Poppins-regular.fntdata"/><Relationship Id="rId22" Type="http://schemas.openxmlformats.org/officeDocument/2006/relationships/font" Target="fonts/Poppins-italic.fntdata"/><Relationship Id="rId21" Type="http://schemas.openxmlformats.org/officeDocument/2006/relationships/font" Target="fonts/Poppins-bold.fntdata"/><Relationship Id="rId24" Type="http://schemas.openxmlformats.org/officeDocument/2006/relationships/font" Target="fonts/UrbanistMedium-regular.fntdata"/><Relationship Id="rId23" Type="http://schemas.openxmlformats.org/officeDocument/2006/relationships/font" Target="fonts/Poppins-boldItalic.fntdata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Medium-boldItalic.fntdata"/><Relationship Id="rId29" Type="http://schemas.openxmlformats.org/officeDocument/2006/relationships/font" Target="fonts/Urbanist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debd83fa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debd83fa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debd83fa9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debd83fa9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3debd83fa94_0_199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debd83fa94_0_501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d724f36036_0_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4" name="Google Shape;634;g3d724f3603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d724f36036_0_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9" name="Google Shape;679;g3d724f3603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d724f36036_0_4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6" name="Google Shape;686;g3d724f3603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d724f36036_0_5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2" name="Google Shape;692;g3d724f3603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d724f36036_0_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8" name="Google Shape;698;g3d724f3603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debd83fa94_0_441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debd83fa94_0_51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debd83fa9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3debd83fa9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debd83fa94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debd83fa94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1" l="32511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7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6.png"/><Relationship Id="rId8" Type="http://schemas.openxmlformats.org/officeDocument/2006/relationships/image" Target="../media/image22.png"/><Relationship Id="rId11" Type="http://schemas.openxmlformats.org/officeDocument/2006/relationships/image" Target="../media/image13.png"/><Relationship Id="rId10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Timeline Data Project 2026</a:t>
            </a:r>
            <a:endParaRPr sz="4400"/>
          </a:p>
        </p:txBody>
      </p:sp>
      <p:sp>
        <p:nvSpPr>
          <p:cNvPr id="574" name="Google Shape;574;p54"/>
          <p:cNvSpPr txBox="1"/>
          <p:nvPr/>
        </p:nvSpPr>
        <p:spPr>
          <a:xfrm>
            <a:off x="3236625" y="332675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Devin Tran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5"/>
          <p:cNvSpPr txBox="1"/>
          <p:nvPr>
            <p:ph idx="1" type="subTitle"/>
          </p:nvPr>
        </p:nvSpPr>
        <p:spPr>
          <a:xfrm>
            <a:off x="3017260" y="1769999"/>
            <a:ext cx="5529000" cy="603300"/>
          </a:xfrm>
          <a:prstGeom prst="rect">
            <a:avLst/>
          </a:prstGeom>
        </p:spPr>
        <p:txBody>
          <a:bodyPr anchorCtr="0" anchor="t" bIns="119475" lIns="119475" spcFirstLastPara="1" rIns="119475" wrap="square" tIns="1194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91"/>
              <a:buNone/>
            </a:pPr>
            <a:r>
              <a:rPr lang="en" sz="1838"/>
              <a:t>How do geographic movement patterns change throughout different times of day?</a:t>
            </a:r>
            <a:endParaRPr sz="1838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91"/>
              <a:buNone/>
            </a:pPr>
            <a:r>
              <a:t/>
            </a:r>
            <a:endParaRPr sz="1294"/>
          </a:p>
        </p:txBody>
      </p:sp>
      <p:sp>
        <p:nvSpPr>
          <p:cNvPr id="580" name="Google Shape;580;p55"/>
          <p:cNvSpPr txBox="1"/>
          <p:nvPr>
            <p:ph idx="3" type="subTitle"/>
          </p:nvPr>
        </p:nvSpPr>
        <p:spPr>
          <a:xfrm>
            <a:off x="3017260" y="2767737"/>
            <a:ext cx="5529000" cy="603300"/>
          </a:xfrm>
          <a:prstGeom prst="rect">
            <a:avLst/>
          </a:prstGeom>
        </p:spPr>
        <p:txBody>
          <a:bodyPr anchorCtr="0" anchor="t" bIns="119475" lIns="119475" spcFirstLastPara="1" rIns="119475" wrap="square" tIns="1194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16"/>
              <a:buNone/>
            </a:pPr>
            <a:r>
              <a:rPr lang="en"/>
              <a:t>How does geographic footprint change throughout the course of a week?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16"/>
              <a:buNone/>
            </a:pPr>
            <a:r>
              <a:t/>
            </a:r>
            <a:endParaRPr sz="588"/>
          </a:p>
        </p:txBody>
      </p:sp>
      <p:sp>
        <p:nvSpPr>
          <p:cNvPr id="581" name="Google Shape;581;p55"/>
          <p:cNvSpPr txBox="1"/>
          <p:nvPr>
            <p:ph idx="5" type="subTitle"/>
          </p:nvPr>
        </p:nvSpPr>
        <p:spPr>
          <a:xfrm>
            <a:off x="3017260" y="3772467"/>
            <a:ext cx="5529000" cy="603300"/>
          </a:xfrm>
          <a:prstGeom prst="rect">
            <a:avLst/>
          </a:prstGeom>
        </p:spPr>
        <p:txBody>
          <a:bodyPr anchorCtr="0" anchor="t" bIns="119475" lIns="119475" spcFirstLastPara="1" rIns="119475" wrap="square" tIns="119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38"/>
              <a:t>What is the class average commute time from home to the BYU campus?</a:t>
            </a:r>
            <a:endParaRPr sz="1838"/>
          </a:p>
        </p:txBody>
      </p:sp>
      <p:sp>
        <p:nvSpPr>
          <p:cNvPr id="582" name="Google Shape;582;p55"/>
          <p:cNvSpPr txBox="1"/>
          <p:nvPr/>
        </p:nvSpPr>
        <p:spPr>
          <a:xfrm>
            <a:off x="1620925" y="2768243"/>
            <a:ext cx="837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475" lIns="119475" spcFirstLastPara="1" rIns="119475" wrap="square" tIns="11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2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02.</a:t>
            </a:r>
            <a:endParaRPr sz="2352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83" name="Google Shape;583;p55"/>
          <p:cNvSpPr txBox="1"/>
          <p:nvPr/>
        </p:nvSpPr>
        <p:spPr>
          <a:xfrm>
            <a:off x="1620925" y="1777762"/>
            <a:ext cx="837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475" lIns="119475" spcFirstLastPara="1" rIns="119475" wrap="square" tIns="11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2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01</a:t>
            </a:r>
            <a:r>
              <a:rPr lang="en" sz="2352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 sz="2352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84" name="Google Shape;584;p55"/>
          <p:cNvSpPr txBox="1"/>
          <p:nvPr/>
        </p:nvSpPr>
        <p:spPr>
          <a:xfrm>
            <a:off x="1620925" y="3788181"/>
            <a:ext cx="8370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475" lIns="119475" spcFirstLastPara="1" rIns="119475" wrap="square" tIns="119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2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03</a:t>
            </a:r>
            <a:r>
              <a:rPr lang="en" sz="2352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.</a:t>
            </a:r>
            <a:endParaRPr sz="2352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585" name="Google Shape;585;p55"/>
          <p:cNvSpPr txBox="1"/>
          <p:nvPr>
            <p:ph type="title"/>
          </p:nvPr>
        </p:nvSpPr>
        <p:spPr>
          <a:xfrm>
            <a:off x="1362125" y="798025"/>
            <a:ext cx="2114700" cy="108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Questions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2D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56"/>
          <p:cNvSpPr txBox="1"/>
          <p:nvPr/>
        </p:nvSpPr>
        <p:spPr>
          <a:xfrm>
            <a:off x="381000" y="381000"/>
            <a:ext cx="571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Q1 Geographic Patterns by Time of Day</a:t>
            </a:r>
            <a:endParaRPr b="0" sz="22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591" name="Google Shape;591;p56"/>
          <p:cNvGrpSpPr/>
          <p:nvPr/>
        </p:nvGrpSpPr>
        <p:grpSpPr>
          <a:xfrm>
            <a:off x="381000" y="1047750"/>
            <a:ext cx="1905000" cy="952500"/>
            <a:chOff x="0" y="0"/>
            <a:chExt cx="1905000" cy="952500"/>
          </a:xfrm>
        </p:grpSpPr>
        <p:pic>
          <p:nvPicPr>
            <p:cNvPr id="592" name="Google Shape;592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905000" cy="95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3" name="Google Shape;593;p56"/>
            <p:cNvSpPr txBox="1"/>
            <p:nvPr/>
          </p:nvSpPr>
          <p:spPr>
            <a:xfrm>
              <a:off x="142875" y="1428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A9ADC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First Movement</a:t>
              </a:r>
              <a:endParaRPr b="0" sz="800">
                <a:solidFill>
                  <a:srgbClr val="A9ADC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9:24 AM</a:t>
              </a:r>
              <a:endParaRPr b="0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Class Avg Wake</a:t>
              </a:r>
              <a:endParaRPr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94" name="Google Shape;594;p56"/>
          <p:cNvGrpSpPr/>
          <p:nvPr/>
        </p:nvGrpSpPr>
        <p:grpSpPr>
          <a:xfrm>
            <a:off x="2476500" y="1047750"/>
            <a:ext cx="1905000" cy="952500"/>
            <a:chOff x="0" y="0"/>
            <a:chExt cx="1905000" cy="952500"/>
          </a:xfrm>
        </p:grpSpPr>
        <p:pic>
          <p:nvPicPr>
            <p:cNvPr id="595" name="Google Shape;595;p5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905000" cy="95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6" name="Google Shape;596;p56"/>
            <p:cNvSpPr txBox="1"/>
            <p:nvPr/>
          </p:nvSpPr>
          <p:spPr>
            <a:xfrm>
              <a:off x="142875" y="142875"/>
              <a:ext cx="16191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A9ADC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Last Movement</a:t>
              </a:r>
              <a:endParaRPr b="0" sz="800">
                <a:solidFill>
                  <a:srgbClr val="A9ADC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10:18 AM</a:t>
              </a:r>
              <a:endParaRPr b="0" sz="18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Class Avg Sleep</a:t>
              </a:r>
              <a:endParaRPr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97" name="Google Shape;597;p56"/>
          <p:cNvGrpSpPr/>
          <p:nvPr/>
        </p:nvGrpSpPr>
        <p:grpSpPr>
          <a:xfrm>
            <a:off x="4762500" y="1047750"/>
            <a:ext cx="4000500" cy="3714900"/>
            <a:chOff x="0" y="0"/>
            <a:chExt cx="4000500" cy="3714900"/>
          </a:xfrm>
        </p:grpSpPr>
        <p:pic>
          <p:nvPicPr>
            <p:cNvPr id="598" name="Google Shape;598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4000500" cy="3714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p56"/>
            <p:cNvSpPr txBox="1"/>
            <p:nvPr/>
          </p:nvSpPr>
          <p:spPr>
            <a:xfrm>
              <a:off x="190500" y="190500"/>
              <a:ext cx="3619500" cy="333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DF5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Top Exploratory Destinations</a:t>
              </a:r>
              <a:endParaRPr b="0" sz="1400">
                <a:solidFill>
                  <a:srgbClr val="FFDF5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8127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Morning (6am-12pm)</a:t>
              </a:r>
              <a:endParaRPr b="0" sz="800">
                <a:solidFill>
                  <a:srgbClr val="FF8127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BYU, Spencer W. Kimball Tower, HBLL</a:t>
              </a:r>
              <a:endParaRPr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8127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Afternoon (12pm-6pm)</a:t>
              </a:r>
              <a:endParaRPr b="0" sz="800">
                <a:solidFill>
                  <a:srgbClr val="FF8127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BYU, Harold B. Lee Library (HBLL), WSC</a:t>
              </a:r>
              <a:endParaRPr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8127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Evening (6pm-12am)</a:t>
              </a:r>
              <a:endParaRPr b="0" sz="800">
                <a:solidFill>
                  <a:srgbClr val="FF8127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BYU, Walmart Market, Parkway Village</a:t>
              </a:r>
              <a:endParaRPr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FF8127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Night (12am-6am)</a:t>
              </a:r>
              <a:endParaRPr b="0" sz="800">
                <a:solidFill>
                  <a:srgbClr val="FF8127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150"/>
                </a:spcAft>
                <a:buNone/>
              </a:pPr>
              <a:r>
                <a:rPr lang="en" sz="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Provo Rec Center, Cape Canaveral Space Force</a:t>
              </a:r>
              <a:endParaRPr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00" name="Google Shape;600;p56"/>
          <p:cNvGrpSpPr/>
          <p:nvPr/>
        </p:nvGrpSpPr>
        <p:grpSpPr>
          <a:xfrm>
            <a:off x="381000" y="2190750"/>
            <a:ext cx="4000500" cy="2571900"/>
            <a:chOff x="0" y="0"/>
            <a:chExt cx="4000500" cy="2571900"/>
          </a:xfrm>
        </p:grpSpPr>
        <p:pic>
          <p:nvPicPr>
            <p:cNvPr id="601" name="Google Shape;601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4000500" cy="257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2" name="Google Shape;602;p56"/>
            <p:cNvSpPr txBox="1"/>
            <p:nvPr/>
          </p:nvSpPr>
          <p:spPr>
            <a:xfrm>
              <a:off x="190500" y="190500"/>
              <a:ext cx="3619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FFDF5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Overall Mobility vs. BYU Presence</a:t>
              </a:r>
              <a:endParaRPr b="0" sz="1400">
                <a:solidFill>
                  <a:srgbClr val="FFDF5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grpSp>
          <p:nvGrpSpPr>
            <p:cNvPr id="603" name="Google Shape;603;p56"/>
            <p:cNvGrpSpPr/>
            <p:nvPr/>
          </p:nvGrpSpPr>
          <p:grpSpPr>
            <a:xfrm>
              <a:off x="190500" y="666750"/>
              <a:ext cx="3619500" cy="552450"/>
              <a:chOff x="0" y="0"/>
              <a:chExt cx="3619500" cy="552450"/>
            </a:xfrm>
          </p:grpSpPr>
          <p:sp>
            <p:nvSpPr>
              <p:cNvPr id="604" name="Google Shape;604;p56"/>
              <p:cNvSpPr txBox="1"/>
              <p:nvPr/>
            </p:nvSpPr>
            <p:spPr>
              <a:xfrm>
                <a:off x="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A9ADC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Morning</a:t>
                </a:r>
                <a:endParaRPr b="0" sz="800">
                  <a:solidFill>
                    <a:srgbClr val="A9ADC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pic>
            <p:nvPicPr>
              <p:cNvPr id="605" name="Google Shape;605;p5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0" y="238125"/>
                <a:ext cx="36195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06" name="Google Shape;606;p56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0" y="238125"/>
                <a:ext cx="30195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07" name="Google Shape;607;p56"/>
              <p:cNvSpPr/>
              <p:nvPr/>
            </p:nvSpPr>
            <p:spPr>
              <a:xfrm>
                <a:off x="0" y="238125"/>
                <a:ext cx="17718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FFDF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56"/>
              <p:cNvSpPr txBox="1"/>
              <p:nvPr/>
            </p:nvSpPr>
            <p:spPr>
              <a:xfrm>
                <a:off x="0" y="36195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Campus: 1206 visits — Total: 2045 visits</a:t>
                </a:r>
                <a:endParaRPr sz="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09" name="Google Shape;609;p56"/>
            <p:cNvGrpSpPr/>
            <p:nvPr/>
          </p:nvGrpSpPr>
          <p:grpSpPr>
            <a:xfrm>
              <a:off x="190500" y="1285875"/>
              <a:ext cx="3619500" cy="552450"/>
              <a:chOff x="0" y="0"/>
              <a:chExt cx="3619500" cy="552450"/>
            </a:xfrm>
          </p:grpSpPr>
          <p:sp>
            <p:nvSpPr>
              <p:cNvPr id="610" name="Google Shape;610;p56"/>
              <p:cNvSpPr txBox="1"/>
              <p:nvPr/>
            </p:nvSpPr>
            <p:spPr>
              <a:xfrm>
                <a:off x="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A9ADC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Afternoon</a:t>
                </a:r>
                <a:endParaRPr b="0" sz="800">
                  <a:solidFill>
                    <a:srgbClr val="A9ADC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pic>
            <p:nvPicPr>
              <p:cNvPr id="611" name="Google Shape;611;p5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0" y="238125"/>
                <a:ext cx="36195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2" name="Google Shape;612;p56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0"/>
              <a:stretch/>
            </p:blipFill>
            <p:spPr>
              <a:xfrm>
                <a:off x="0" y="238125"/>
                <a:ext cx="36195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3" name="Google Shape;613;p56"/>
              <p:cNvSpPr/>
              <p:nvPr/>
            </p:nvSpPr>
            <p:spPr>
              <a:xfrm>
                <a:off x="0" y="238125"/>
                <a:ext cx="12765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FFDF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56"/>
              <p:cNvSpPr txBox="1"/>
              <p:nvPr/>
            </p:nvSpPr>
            <p:spPr>
              <a:xfrm>
                <a:off x="0" y="36195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Campus: 867 visits — Total: 2448 visits</a:t>
                </a:r>
                <a:endParaRPr sz="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615" name="Google Shape;615;p56"/>
            <p:cNvGrpSpPr/>
            <p:nvPr/>
          </p:nvGrpSpPr>
          <p:grpSpPr>
            <a:xfrm>
              <a:off x="190500" y="1905000"/>
              <a:ext cx="3619500" cy="552450"/>
              <a:chOff x="0" y="0"/>
              <a:chExt cx="3619500" cy="552450"/>
            </a:xfrm>
          </p:grpSpPr>
          <p:sp>
            <p:nvSpPr>
              <p:cNvPr id="616" name="Google Shape;616;p56"/>
              <p:cNvSpPr txBox="1"/>
              <p:nvPr/>
            </p:nvSpPr>
            <p:spPr>
              <a:xfrm>
                <a:off x="0" y="0"/>
                <a:ext cx="952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0">
                    <a:solidFill>
                      <a:srgbClr val="A9ADC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Evening</a:t>
                </a:r>
                <a:endParaRPr b="0" sz="800">
                  <a:solidFill>
                    <a:srgbClr val="A9ADC1"/>
                  </a:solidFill>
                  <a:latin typeface="Poppins Medium"/>
                  <a:ea typeface="Poppins Medium"/>
                  <a:cs typeface="Poppins Medium"/>
                  <a:sym typeface="Poppins Medium"/>
                </a:endParaRPr>
              </a:p>
            </p:txBody>
          </p:sp>
          <p:pic>
            <p:nvPicPr>
              <p:cNvPr id="617" name="Google Shape;617;p5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0" y="238125"/>
                <a:ext cx="36195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18" name="Google Shape;618;p56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0" y="238125"/>
                <a:ext cx="2428800" cy="762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19" name="Google Shape;619;p56"/>
              <p:cNvSpPr/>
              <p:nvPr/>
            </p:nvSpPr>
            <p:spPr>
              <a:xfrm>
                <a:off x="0" y="238125"/>
                <a:ext cx="3333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FFDF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56"/>
              <p:cNvSpPr txBox="1"/>
              <p:nvPr/>
            </p:nvSpPr>
            <p:spPr>
              <a:xfrm>
                <a:off x="0" y="36195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Campus: 232 visits — Total: 1648 visits</a:t>
                </a:r>
                <a:endParaRPr sz="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pic>
        <p:nvPicPr>
          <p:cNvPr id="621" name="Google Shape;621;p5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001000" y="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5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477250" y="476250"/>
            <a:ext cx="6669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2D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57"/>
          <p:cNvSpPr txBox="1"/>
          <p:nvPr/>
        </p:nvSpPr>
        <p:spPr>
          <a:xfrm>
            <a:off x="381000" y="381000"/>
            <a:ext cx="5715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22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Q1 Geographic Patterns by Time of Day</a:t>
            </a:r>
            <a:endParaRPr b="0" sz="222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28" name="Google Shape;62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01000" y="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0" y="476250"/>
            <a:ext cx="6669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57" title="Screenshot 2026-04-15 1406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775" y="857400"/>
            <a:ext cx="4460700" cy="415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40875" y="3569850"/>
            <a:ext cx="4156325" cy="1500900"/>
          </a:xfrm>
          <a:prstGeom prst="rect">
            <a:avLst/>
          </a:prstGeom>
          <a:solidFill>
            <a:srgbClr val="292D3E"/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2D3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8"/>
          <p:cNvSpPr txBox="1"/>
          <p:nvPr/>
        </p:nvSpPr>
        <p:spPr>
          <a:xfrm>
            <a:off x="381000" y="333375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" sz="1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Q2 Geographic Footprint Throughout the Week</a:t>
            </a:r>
            <a:endParaRPr b="0" i="0" sz="185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637" name="Google Shape;637;p58"/>
          <p:cNvGrpSpPr/>
          <p:nvPr/>
        </p:nvGrpSpPr>
        <p:grpSpPr>
          <a:xfrm>
            <a:off x="381000" y="857250"/>
            <a:ext cx="1905000" cy="809700"/>
            <a:chOff x="0" y="0"/>
            <a:chExt cx="1905000" cy="809700"/>
          </a:xfrm>
        </p:grpSpPr>
        <p:sp>
          <p:nvSpPr>
            <p:cNvPr id="638" name="Google Shape;638;p58"/>
            <p:cNvSpPr/>
            <p:nvPr/>
          </p:nvSpPr>
          <p:spPr>
            <a:xfrm>
              <a:off x="0" y="0"/>
              <a:ext cx="1905000" cy="809700"/>
            </a:xfrm>
            <a:prstGeom prst="roundRect">
              <a:avLst>
                <a:gd fmla="val 9411" name="adj"/>
              </a:avLst>
            </a:prstGeom>
            <a:solidFill>
              <a:srgbClr val="34394E"/>
            </a:solidFill>
            <a:ln cap="flat" cmpd="sng" w="9525">
              <a:solidFill>
                <a:srgbClr val="464C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8"/>
            <p:cNvSpPr txBox="1"/>
            <p:nvPr/>
          </p:nvSpPr>
          <p:spPr>
            <a:xfrm>
              <a:off x="142875" y="95250"/>
              <a:ext cx="16191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A9ADC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Avg Unique Places</a:t>
              </a:r>
              <a:endParaRPr b="0" i="0" sz="800" u="none" cap="none" strike="noStrike">
                <a:solidFill>
                  <a:srgbClr val="A9ADC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DF5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Weekday</a:t>
              </a:r>
              <a:endParaRPr b="0" i="0" sz="1100" u="none" cap="none" strike="noStrike">
                <a:solidFill>
                  <a:srgbClr val="FFDF5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64.6</a:t>
              </a:r>
              <a:endParaRPr b="0" i="0" sz="16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640" name="Google Shape;640;p58"/>
          <p:cNvGrpSpPr/>
          <p:nvPr/>
        </p:nvGrpSpPr>
        <p:grpSpPr>
          <a:xfrm>
            <a:off x="2476500" y="857250"/>
            <a:ext cx="1905000" cy="809700"/>
            <a:chOff x="0" y="0"/>
            <a:chExt cx="1905000" cy="809700"/>
          </a:xfrm>
        </p:grpSpPr>
        <p:sp>
          <p:nvSpPr>
            <p:cNvPr id="641" name="Google Shape;641;p58"/>
            <p:cNvSpPr/>
            <p:nvPr/>
          </p:nvSpPr>
          <p:spPr>
            <a:xfrm>
              <a:off x="0" y="0"/>
              <a:ext cx="1905000" cy="809700"/>
            </a:xfrm>
            <a:prstGeom prst="roundRect">
              <a:avLst>
                <a:gd fmla="val 9411" name="adj"/>
              </a:avLst>
            </a:prstGeom>
            <a:solidFill>
              <a:srgbClr val="34394E"/>
            </a:solidFill>
            <a:ln cap="flat" cmpd="sng" w="9525">
              <a:solidFill>
                <a:srgbClr val="464C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8"/>
            <p:cNvSpPr txBox="1"/>
            <p:nvPr/>
          </p:nvSpPr>
          <p:spPr>
            <a:xfrm>
              <a:off x="142875" y="95250"/>
              <a:ext cx="16191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A9ADC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Avg Unique Places</a:t>
              </a:r>
              <a:endParaRPr b="0" i="0" sz="800" u="none" cap="none" strike="noStrike">
                <a:solidFill>
                  <a:srgbClr val="A9ADC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DF5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Weekend</a:t>
              </a:r>
              <a:endParaRPr b="0" i="0" sz="1100" u="none" cap="none" strike="noStrike">
                <a:solidFill>
                  <a:srgbClr val="FFDF5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" sz="1600" u="none" cap="none" strike="noStrike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37.9</a:t>
              </a:r>
              <a:endParaRPr b="0" i="0" sz="16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643" name="Google Shape;643;p58"/>
          <p:cNvGrpSpPr/>
          <p:nvPr/>
        </p:nvGrpSpPr>
        <p:grpSpPr>
          <a:xfrm>
            <a:off x="4762500" y="857250"/>
            <a:ext cx="4000500" cy="1809600"/>
            <a:chOff x="0" y="0"/>
            <a:chExt cx="4000500" cy="1809600"/>
          </a:xfrm>
        </p:grpSpPr>
        <p:sp>
          <p:nvSpPr>
            <p:cNvPr id="644" name="Google Shape;644;p58"/>
            <p:cNvSpPr/>
            <p:nvPr/>
          </p:nvSpPr>
          <p:spPr>
            <a:xfrm>
              <a:off x="0" y="0"/>
              <a:ext cx="4000500" cy="1809600"/>
            </a:xfrm>
            <a:prstGeom prst="roundRect">
              <a:avLst>
                <a:gd fmla="val 4210" name="adj"/>
              </a:avLst>
            </a:prstGeom>
            <a:solidFill>
              <a:srgbClr val="34394E"/>
            </a:solidFill>
            <a:ln cap="flat" cmpd="sng" w="9525">
              <a:solidFill>
                <a:srgbClr val="464C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58"/>
            <p:cNvSpPr txBox="1"/>
            <p:nvPr/>
          </p:nvSpPr>
          <p:spPr>
            <a:xfrm>
              <a:off x="190500" y="142875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DF5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Visits by Day of Week</a:t>
              </a:r>
              <a:endParaRPr b="0" i="0" sz="1100" u="none" cap="none" strike="noStrike">
                <a:solidFill>
                  <a:srgbClr val="FFDF5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grpSp>
          <p:nvGrpSpPr>
            <p:cNvPr id="646" name="Google Shape;646;p58"/>
            <p:cNvGrpSpPr/>
            <p:nvPr/>
          </p:nvGrpSpPr>
          <p:grpSpPr>
            <a:xfrm>
              <a:off x="190500" y="523875"/>
              <a:ext cx="3809925" cy="171600"/>
              <a:chOff x="0" y="0"/>
              <a:chExt cx="3809925" cy="171600"/>
            </a:xfrm>
          </p:grpSpPr>
          <p:sp>
            <p:nvSpPr>
              <p:cNvPr id="647" name="Google Shape;647;p58"/>
              <p:cNvSpPr/>
              <p:nvPr/>
            </p:nvSpPr>
            <p:spPr>
              <a:xfrm>
                <a:off x="762000" y="47625"/>
                <a:ext cx="26670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3E44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58"/>
              <p:cNvSpPr/>
              <p:nvPr/>
            </p:nvSpPr>
            <p:spPr>
              <a:xfrm>
                <a:off x="762000" y="47625"/>
                <a:ext cx="15051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FFDF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58"/>
              <p:cNvSpPr txBox="1"/>
              <p:nvPr/>
            </p:nvSpPr>
            <p:spPr>
              <a:xfrm>
                <a:off x="0" y="0"/>
                <a:ext cx="666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Mon</a:t>
                </a:r>
                <a:endParaRPr b="0" i="0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50" name="Google Shape;650;p58"/>
              <p:cNvSpPr txBox="1"/>
              <p:nvPr/>
            </p:nvSpPr>
            <p:spPr>
              <a:xfrm>
                <a:off x="3476625" y="0"/>
                <a:ext cx="3333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318</a:t>
                </a:r>
                <a:endParaRPr b="0" i="0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651" name="Google Shape;651;p58"/>
            <p:cNvGrpSpPr/>
            <p:nvPr/>
          </p:nvGrpSpPr>
          <p:grpSpPr>
            <a:xfrm>
              <a:off x="190500" y="762000"/>
              <a:ext cx="3809925" cy="171600"/>
              <a:chOff x="0" y="0"/>
              <a:chExt cx="3809925" cy="171600"/>
            </a:xfrm>
          </p:grpSpPr>
          <p:sp>
            <p:nvSpPr>
              <p:cNvPr id="652" name="Google Shape;652;p58"/>
              <p:cNvSpPr/>
              <p:nvPr/>
            </p:nvSpPr>
            <p:spPr>
              <a:xfrm>
                <a:off x="762000" y="47625"/>
                <a:ext cx="26670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3E44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58"/>
              <p:cNvSpPr/>
              <p:nvPr/>
            </p:nvSpPr>
            <p:spPr>
              <a:xfrm>
                <a:off x="762000" y="47625"/>
                <a:ext cx="18765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FFDF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58"/>
              <p:cNvSpPr txBox="1"/>
              <p:nvPr/>
            </p:nvSpPr>
            <p:spPr>
              <a:xfrm>
                <a:off x="0" y="0"/>
                <a:ext cx="666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Tue</a:t>
                </a:r>
                <a:endParaRPr b="0" i="0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55" name="Google Shape;655;p58"/>
              <p:cNvSpPr txBox="1"/>
              <p:nvPr/>
            </p:nvSpPr>
            <p:spPr>
              <a:xfrm>
                <a:off x="3476625" y="0"/>
                <a:ext cx="3333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397</a:t>
                </a:r>
                <a:endParaRPr b="0" i="0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656" name="Google Shape;656;p58"/>
            <p:cNvGrpSpPr/>
            <p:nvPr/>
          </p:nvGrpSpPr>
          <p:grpSpPr>
            <a:xfrm>
              <a:off x="190500" y="1000125"/>
              <a:ext cx="3809925" cy="171600"/>
              <a:chOff x="0" y="0"/>
              <a:chExt cx="3809925" cy="171600"/>
            </a:xfrm>
          </p:grpSpPr>
          <p:sp>
            <p:nvSpPr>
              <p:cNvPr id="657" name="Google Shape;657;p58"/>
              <p:cNvSpPr/>
              <p:nvPr/>
            </p:nvSpPr>
            <p:spPr>
              <a:xfrm>
                <a:off x="762000" y="47625"/>
                <a:ext cx="26670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3E44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58"/>
              <p:cNvSpPr/>
              <p:nvPr/>
            </p:nvSpPr>
            <p:spPr>
              <a:xfrm>
                <a:off x="762000" y="47625"/>
                <a:ext cx="13716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FFDF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58"/>
              <p:cNvSpPr txBox="1"/>
              <p:nvPr/>
            </p:nvSpPr>
            <p:spPr>
              <a:xfrm>
                <a:off x="0" y="0"/>
                <a:ext cx="666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Wed</a:t>
                </a:r>
                <a:endParaRPr b="0" i="0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60" name="Google Shape;660;p58"/>
              <p:cNvSpPr txBox="1"/>
              <p:nvPr/>
            </p:nvSpPr>
            <p:spPr>
              <a:xfrm>
                <a:off x="3476625" y="0"/>
                <a:ext cx="3333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290</a:t>
                </a:r>
                <a:endParaRPr b="0" i="0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661" name="Google Shape;661;p58"/>
            <p:cNvGrpSpPr/>
            <p:nvPr/>
          </p:nvGrpSpPr>
          <p:grpSpPr>
            <a:xfrm>
              <a:off x="190500" y="1238250"/>
              <a:ext cx="3809925" cy="171600"/>
              <a:chOff x="0" y="0"/>
              <a:chExt cx="3809925" cy="171600"/>
            </a:xfrm>
          </p:grpSpPr>
          <p:sp>
            <p:nvSpPr>
              <p:cNvPr id="662" name="Google Shape;662;p58"/>
              <p:cNvSpPr/>
              <p:nvPr/>
            </p:nvSpPr>
            <p:spPr>
              <a:xfrm>
                <a:off x="762000" y="47625"/>
                <a:ext cx="26670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3E44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58"/>
              <p:cNvSpPr/>
              <p:nvPr/>
            </p:nvSpPr>
            <p:spPr>
              <a:xfrm>
                <a:off x="762000" y="47625"/>
                <a:ext cx="16479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FFDF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58"/>
              <p:cNvSpPr txBox="1"/>
              <p:nvPr/>
            </p:nvSpPr>
            <p:spPr>
              <a:xfrm>
                <a:off x="0" y="0"/>
                <a:ext cx="666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Thu</a:t>
                </a:r>
                <a:endParaRPr b="0" i="0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65" name="Google Shape;665;p58"/>
              <p:cNvSpPr txBox="1"/>
              <p:nvPr/>
            </p:nvSpPr>
            <p:spPr>
              <a:xfrm>
                <a:off x="3476625" y="0"/>
                <a:ext cx="3333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348</a:t>
                </a:r>
                <a:endParaRPr b="0" i="0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  <p:grpSp>
          <p:nvGrpSpPr>
            <p:cNvPr id="666" name="Google Shape;666;p58"/>
            <p:cNvGrpSpPr/>
            <p:nvPr/>
          </p:nvGrpSpPr>
          <p:grpSpPr>
            <a:xfrm>
              <a:off x="190500" y="1476375"/>
              <a:ext cx="3809925" cy="171600"/>
              <a:chOff x="0" y="0"/>
              <a:chExt cx="3809925" cy="171600"/>
            </a:xfrm>
          </p:grpSpPr>
          <p:sp>
            <p:nvSpPr>
              <p:cNvPr id="667" name="Google Shape;667;p58"/>
              <p:cNvSpPr/>
              <p:nvPr/>
            </p:nvSpPr>
            <p:spPr>
              <a:xfrm>
                <a:off x="762000" y="47625"/>
                <a:ext cx="26670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3E445E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58"/>
              <p:cNvSpPr/>
              <p:nvPr/>
            </p:nvSpPr>
            <p:spPr>
              <a:xfrm>
                <a:off x="762000" y="47625"/>
                <a:ext cx="2667000" cy="76200"/>
              </a:xfrm>
              <a:prstGeom prst="roundRect">
                <a:avLst>
                  <a:gd fmla="val 50000" name="adj"/>
                </a:avLst>
              </a:prstGeom>
              <a:solidFill>
                <a:srgbClr val="FFDF5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58"/>
              <p:cNvSpPr txBox="1"/>
              <p:nvPr/>
            </p:nvSpPr>
            <p:spPr>
              <a:xfrm>
                <a:off x="0" y="0"/>
                <a:ext cx="6669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Fri/Sat+</a:t>
                </a:r>
                <a:endParaRPr b="0" i="0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  <p:sp>
            <p:nvSpPr>
              <p:cNvPr id="670" name="Google Shape;670;p58"/>
              <p:cNvSpPr txBox="1"/>
              <p:nvPr/>
            </p:nvSpPr>
            <p:spPr>
              <a:xfrm>
                <a:off x="3476625" y="0"/>
                <a:ext cx="3333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" sz="1000" u="none" cap="none" strike="noStrike">
                    <a:solidFill>
                      <a:srgbClr val="FFFFFF"/>
                    </a:solidFill>
                    <a:latin typeface="Urbanist"/>
                    <a:ea typeface="Urbanist"/>
                    <a:cs typeface="Urbanist"/>
                    <a:sym typeface="Urbanist"/>
                  </a:rPr>
                  <a:t>564</a:t>
                </a:r>
                <a:endParaRPr b="0" i="0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endParaRPr>
              </a:p>
            </p:txBody>
          </p:sp>
        </p:grpSp>
      </p:grpSp>
      <p:grpSp>
        <p:nvGrpSpPr>
          <p:cNvPr id="671" name="Google Shape;671;p58"/>
          <p:cNvGrpSpPr/>
          <p:nvPr/>
        </p:nvGrpSpPr>
        <p:grpSpPr>
          <a:xfrm>
            <a:off x="381000" y="1857375"/>
            <a:ext cx="4000500" cy="2905200"/>
            <a:chOff x="0" y="0"/>
            <a:chExt cx="4000500" cy="2905200"/>
          </a:xfrm>
        </p:grpSpPr>
        <p:sp>
          <p:nvSpPr>
            <p:cNvPr id="672" name="Google Shape;672;p58"/>
            <p:cNvSpPr/>
            <p:nvPr/>
          </p:nvSpPr>
          <p:spPr>
            <a:xfrm>
              <a:off x="0" y="0"/>
              <a:ext cx="4000500" cy="2905200"/>
            </a:xfrm>
            <a:prstGeom prst="roundRect">
              <a:avLst>
                <a:gd fmla="val 2622" name="adj"/>
              </a:avLst>
            </a:prstGeom>
            <a:solidFill>
              <a:srgbClr val="34394E"/>
            </a:solidFill>
            <a:ln cap="flat" cmpd="sng" w="9525">
              <a:solidFill>
                <a:srgbClr val="464C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8"/>
            <p:cNvSpPr txBox="1"/>
            <p:nvPr/>
          </p:nvSpPr>
          <p:spPr>
            <a:xfrm>
              <a:off x="190500" y="142875"/>
              <a:ext cx="3619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DF5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Top Daily Destinations</a:t>
              </a:r>
              <a:endParaRPr b="0" i="0" sz="1100" u="none" cap="none" strike="noStrike">
                <a:solidFill>
                  <a:srgbClr val="FFDF5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FFDF5F"/>
                  </a:solidFill>
                  <a:latin typeface="Urbanist"/>
                  <a:ea typeface="Urbanist"/>
                  <a:cs typeface="Urbanist"/>
                  <a:sym typeface="Urbanist"/>
                </a:rPr>
                <a:t>Mon:</a:t>
              </a:r>
              <a:r>
                <a:rPr b="0" i="0" lang="en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Hwy 198 / 750 N, 380 N 1020 E St</a:t>
              </a:r>
              <a:endParaRPr b="0" i="0" sz="1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FFDF5F"/>
                  </a:solidFill>
                  <a:latin typeface="Urbanist"/>
                  <a:ea typeface="Urbanist"/>
                  <a:cs typeface="Urbanist"/>
                  <a:sym typeface="Urbanist"/>
                </a:rPr>
                <a:t>Tue:</a:t>
              </a:r>
              <a:r>
                <a:rPr b="0" i="0" lang="en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Provo City Center Temple, Payson Court</a:t>
              </a:r>
              <a:endParaRPr b="0" i="0" sz="1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FFDF5F"/>
                  </a:solidFill>
                  <a:latin typeface="Urbanist"/>
                  <a:ea typeface="Urbanist"/>
                  <a:cs typeface="Urbanist"/>
                  <a:sym typeface="Urbanist"/>
                </a:rPr>
                <a:t>Wed:</a:t>
              </a:r>
              <a:r>
                <a:rPr b="0" i="0" lang="en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Hwy 198, Hilton SF Union Square</a:t>
              </a:r>
              <a:endParaRPr b="0" i="0" sz="1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FFDF5F"/>
                  </a:solidFill>
                  <a:latin typeface="Urbanist"/>
                  <a:ea typeface="Urbanist"/>
                  <a:cs typeface="Urbanist"/>
                  <a:sym typeface="Urbanist"/>
                </a:rPr>
                <a:t>Thu:</a:t>
              </a:r>
              <a:r>
                <a:rPr b="0" i="0" lang="en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Payson Court, STRATFORD PARK</a:t>
              </a:r>
              <a:endParaRPr b="0" i="0" sz="1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FFDF5F"/>
                  </a:solidFill>
                  <a:latin typeface="Urbanist"/>
                  <a:ea typeface="Urbanist"/>
                  <a:cs typeface="Urbanist"/>
                  <a:sym typeface="Urbanist"/>
                </a:rPr>
                <a:t>Fri:</a:t>
              </a:r>
              <a:r>
                <a:rPr b="0" i="0" lang="en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Maverik, Chick-fil-A, Provo Rec Center</a:t>
              </a:r>
              <a:endParaRPr b="0" i="0" sz="1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FFDF5F"/>
                  </a:solidFill>
                  <a:latin typeface="Urbanist"/>
                  <a:ea typeface="Urbanist"/>
                  <a:cs typeface="Urbanist"/>
                  <a:sym typeface="Urbanist"/>
                </a:rPr>
                <a:t>Sat:</a:t>
              </a:r>
              <a:r>
                <a:rPr b="0" i="0" lang="en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Walmart Supercenter, Parkway Village</a:t>
              </a:r>
              <a:endParaRPr b="0" i="0" sz="1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1" i="0" lang="en" sz="1000" u="none" cap="none" strike="noStrike">
                  <a:solidFill>
                    <a:srgbClr val="FFDF5F"/>
                  </a:solidFill>
                  <a:latin typeface="Urbanist"/>
                  <a:ea typeface="Urbanist"/>
                  <a:cs typeface="Urbanist"/>
                  <a:sym typeface="Urbanist"/>
                </a:rPr>
                <a:t>Sun:</a:t>
              </a:r>
              <a:r>
                <a:rPr b="0" i="0" lang="en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 LDS Church (68 visits), 2861 N 220 E St</a:t>
              </a:r>
              <a:endParaRPr b="0" i="0" sz="1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674" name="Google Shape;674;p58"/>
          <p:cNvGrpSpPr/>
          <p:nvPr/>
        </p:nvGrpSpPr>
        <p:grpSpPr>
          <a:xfrm>
            <a:off x="4762500" y="2857500"/>
            <a:ext cx="4000500" cy="1905000"/>
            <a:chOff x="0" y="0"/>
            <a:chExt cx="4000500" cy="1905000"/>
          </a:xfrm>
        </p:grpSpPr>
        <p:sp>
          <p:nvSpPr>
            <p:cNvPr id="675" name="Google Shape;675;p58"/>
            <p:cNvSpPr/>
            <p:nvPr/>
          </p:nvSpPr>
          <p:spPr>
            <a:xfrm>
              <a:off x="0" y="0"/>
              <a:ext cx="4000500" cy="1905000"/>
            </a:xfrm>
            <a:prstGeom prst="roundRect">
              <a:avLst>
                <a:gd fmla="val 4000" name="adj"/>
              </a:avLst>
            </a:prstGeom>
            <a:solidFill>
              <a:srgbClr val="34394E"/>
            </a:solidFill>
            <a:ln cap="flat" cmpd="sng" w="9525">
              <a:solidFill>
                <a:srgbClr val="464C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8"/>
            <p:cNvSpPr txBox="1"/>
            <p:nvPr/>
          </p:nvSpPr>
          <p:spPr>
            <a:xfrm>
              <a:off x="190500" y="142875"/>
              <a:ext cx="36195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DF5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Weekend Profile (Sat-Sun)</a:t>
              </a:r>
              <a:endParaRPr b="0" i="0" sz="1100" u="none" cap="none" strike="noStrike">
                <a:solidFill>
                  <a:srgbClr val="FFDF5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The weekend shows a significant shift toward </a:t>
              </a:r>
              <a:r>
                <a:rPr b="1" i="0" lang="en" sz="1000" u="none" cap="none" strike="noStrike">
                  <a:solidFill>
                    <a:srgbClr val="FFDF5F"/>
                  </a:solidFill>
                  <a:latin typeface="Urbanist"/>
                  <a:ea typeface="Urbanist"/>
                  <a:cs typeface="Urbanist"/>
                  <a:sym typeface="Urbanist"/>
                </a:rPr>
                <a:t>retail and religious activities</a:t>
              </a:r>
              <a:r>
                <a:rPr b="0" i="0" lang="en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. Saturday is the busiest day of the week with 564 total visits, while Sunday is dominated by LDS Church visits (nearly 25% of all weekend activity).</a:t>
              </a:r>
              <a:endParaRPr b="0" i="0" sz="1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" sz="800" u="none" cap="none" strike="noStrike">
                  <a:solidFill>
                    <a:srgbClr val="A9ADC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Peak Weekend Spots:</a:t>
              </a:r>
              <a:endParaRPr b="0" i="0" sz="800" u="none" cap="none" strike="noStrike">
                <a:solidFill>
                  <a:srgbClr val="A9ADC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• Walmart Neighborhood Market</a:t>
              </a:r>
              <a:endParaRPr b="0" i="0" sz="1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• University Place</a:t>
              </a:r>
              <a:endParaRPr b="0" i="0" sz="1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rgbClr val="FFFFFF"/>
                  </a:solidFill>
                  <a:latin typeface="Urbanist"/>
                  <a:ea typeface="Urbanist"/>
                  <a:cs typeface="Urbanist"/>
                  <a:sym typeface="Urbanist"/>
                </a:rPr>
                <a:t>• Provo City Center Temple</a:t>
              </a:r>
              <a:endParaRPr b="0" i="0" sz="1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2D3E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9"/>
          <p:cNvSpPr txBox="1"/>
          <p:nvPr/>
        </p:nvSpPr>
        <p:spPr>
          <a:xfrm>
            <a:off x="381000" y="333375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" sz="1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Q2 Geographic Footprint Throughout the Week</a:t>
            </a:r>
            <a:endParaRPr b="0" i="0" sz="185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82" name="Google Shape;68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0238" y="803850"/>
            <a:ext cx="3529785" cy="412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9575" y="1303913"/>
            <a:ext cx="4276725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2D3E"/>
        </a:solid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0"/>
          <p:cNvSpPr txBox="1"/>
          <p:nvPr/>
        </p:nvSpPr>
        <p:spPr>
          <a:xfrm>
            <a:off x="381000" y="333375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" sz="1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Q2 Geographic Footprint Throughout the Week</a:t>
            </a:r>
            <a:endParaRPr b="0" i="0" sz="185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89" name="Google Shape;689;p60" title="RQ2_distance_by_da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635" y="927225"/>
            <a:ext cx="7768725" cy="383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2D3E"/>
        </a:solidFill>
      </p:bgPr>
    </p:bg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1"/>
          <p:cNvSpPr txBox="1"/>
          <p:nvPr/>
        </p:nvSpPr>
        <p:spPr>
          <a:xfrm>
            <a:off x="381000" y="333375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" sz="1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Q2 Geographic Footprint Throughout the Week</a:t>
            </a:r>
            <a:endParaRPr b="0" i="0" sz="185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695" name="Google Shape;695;p61" title="RQ2_weekday_vs_weekend_destinations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23725"/>
            <a:ext cx="8839204" cy="2896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2D3E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62"/>
          <p:cNvSpPr txBox="1"/>
          <p:nvPr/>
        </p:nvSpPr>
        <p:spPr>
          <a:xfrm>
            <a:off x="381000" y="333375"/>
            <a:ext cx="571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Arial"/>
              <a:buNone/>
            </a:pPr>
            <a:r>
              <a:rPr b="0" i="0" lang="en" sz="1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Q2 Geographic Footprint Throughout the Week</a:t>
            </a:r>
            <a:endParaRPr b="0" i="0" sz="185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01" name="Google Shape;701;p62" title="RQ2_top_places_by_day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66775"/>
            <a:ext cx="8839204" cy="410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2D3E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3"/>
          <p:cNvSpPr txBox="1"/>
          <p:nvPr/>
        </p:nvSpPr>
        <p:spPr>
          <a:xfrm>
            <a:off x="381000" y="333375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5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Q3 Class Commutes Analysis</a:t>
            </a:r>
            <a:endParaRPr b="0" sz="185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grpSp>
        <p:nvGrpSpPr>
          <p:cNvPr id="706" name="Google Shape;706;p63"/>
          <p:cNvGrpSpPr/>
          <p:nvPr/>
        </p:nvGrpSpPr>
        <p:grpSpPr>
          <a:xfrm>
            <a:off x="4762500" y="831800"/>
            <a:ext cx="1905000" cy="809700"/>
            <a:chOff x="0" y="0"/>
            <a:chExt cx="1905000" cy="809700"/>
          </a:xfrm>
        </p:grpSpPr>
        <p:sp>
          <p:nvSpPr>
            <p:cNvPr id="707" name="Google Shape;707;p63"/>
            <p:cNvSpPr/>
            <p:nvPr/>
          </p:nvSpPr>
          <p:spPr>
            <a:xfrm>
              <a:off x="0" y="0"/>
              <a:ext cx="1905000" cy="809700"/>
            </a:xfrm>
            <a:prstGeom prst="roundRect">
              <a:avLst>
                <a:gd fmla="val 9411" name="adj"/>
              </a:avLst>
            </a:prstGeom>
            <a:solidFill>
              <a:srgbClr val="34394E"/>
            </a:solidFill>
            <a:ln cap="flat" cmpd="sng" w="9525">
              <a:solidFill>
                <a:srgbClr val="464C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3"/>
            <p:cNvSpPr txBox="1"/>
            <p:nvPr/>
          </p:nvSpPr>
          <p:spPr>
            <a:xfrm>
              <a:off x="142875" y="95250"/>
              <a:ext cx="16191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A9ADC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Average Commute</a:t>
              </a:r>
              <a:endParaRPr b="0" sz="800">
                <a:solidFill>
                  <a:srgbClr val="A9ADC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DF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Traffic Adjusted</a:t>
              </a:r>
              <a:endParaRPr b="0" sz="1100">
                <a:solidFill>
                  <a:srgbClr val="FFDF5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8.9 </a:t>
              </a:r>
              <a:r>
                <a:rPr b="0" lang="en" sz="10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mins</a:t>
              </a:r>
              <a:endParaRPr b="0" sz="16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709" name="Google Shape;709;p63"/>
          <p:cNvGrpSpPr/>
          <p:nvPr/>
        </p:nvGrpSpPr>
        <p:grpSpPr>
          <a:xfrm>
            <a:off x="4762500" y="1824850"/>
            <a:ext cx="1905000" cy="809700"/>
            <a:chOff x="0" y="0"/>
            <a:chExt cx="1905000" cy="809700"/>
          </a:xfrm>
        </p:grpSpPr>
        <p:sp>
          <p:nvSpPr>
            <p:cNvPr id="710" name="Google Shape;710;p63"/>
            <p:cNvSpPr/>
            <p:nvPr/>
          </p:nvSpPr>
          <p:spPr>
            <a:xfrm>
              <a:off x="0" y="0"/>
              <a:ext cx="1905000" cy="809700"/>
            </a:xfrm>
            <a:prstGeom prst="roundRect">
              <a:avLst>
                <a:gd fmla="val 9411" name="adj"/>
              </a:avLst>
            </a:prstGeom>
            <a:solidFill>
              <a:srgbClr val="34394E"/>
            </a:solidFill>
            <a:ln cap="flat" cmpd="sng" w="9525">
              <a:solidFill>
                <a:srgbClr val="464C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3"/>
            <p:cNvSpPr txBox="1"/>
            <p:nvPr/>
          </p:nvSpPr>
          <p:spPr>
            <a:xfrm>
              <a:off x="142875" y="95250"/>
              <a:ext cx="16191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A9ADC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Average Distance</a:t>
              </a:r>
              <a:endParaRPr b="0" sz="800">
                <a:solidFill>
                  <a:srgbClr val="A9ADC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DF5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Total Route</a:t>
              </a:r>
              <a:endParaRPr b="0" sz="1100">
                <a:solidFill>
                  <a:srgbClr val="FFDF5F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6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5.3 </a:t>
              </a:r>
              <a:r>
                <a:rPr b="0" lang="en" sz="1000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miles</a:t>
              </a:r>
              <a:endParaRPr b="0" sz="16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712" name="Google Shape;712;p63"/>
          <p:cNvGrpSpPr/>
          <p:nvPr/>
        </p:nvGrpSpPr>
        <p:grpSpPr>
          <a:xfrm>
            <a:off x="381000" y="831800"/>
            <a:ext cx="4000500" cy="3930736"/>
            <a:chOff x="0" y="0"/>
            <a:chExt cx="4000500" cy="2905200"/>
          </a:xfrm>
        </p:grpSpPr>
        <p:sp>
          <p:nvSpPr>
            <p:cNvPr id="713" name="Google Shape;713;p63"/>
            <p:cNvSpPr/>
            <p:nvPr/>
          </p:nvSpPr>
          <p:spPr>
            <a:xfrm>
              <a:off x="0" y="0"/>
              <a:ext cx="4000500" cy="2905200"/>
            </a:xfrm>
            <a:prstGeom prst="roundRect">
              <a:avLst>
                <a:gd fmla="val 2622" name="adj"/>
              </a:avLst>
            </a:prstGeom>
            <a:solidFill>
              <a:srgbClr val="34394E"/>
            </a:solidFill>
            <a:ln cap="flat" cmpd="sng" w="9525">
              <a:solidFill>
                <a:srgbClr val="464C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3"/>
            <p:cNvSpPr txBox="1"/>
            <p:nvPr/>
          </p:nvSpPr>
          <p:spPr>
            <a:xfrm>
              <a:off x="190500" y="142875"/>
              <a:ext cx="36195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715" name="Google Shape;71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875" y="1004825"/>
            <a:ext cx="3906750" cy="3584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8275" y="74700"/>
            <a:ext cx="2021025" cy="499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92D3E"/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64"/>
          <p:cNvSpPr txBox="1"/>
          <p:nvPr/>
        </p:nvSpPr>
        <p:spPr>
          <a:xfrm>
            <a:off x="381000" y="333375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5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Q3 Class Commutes Analysis</a:t>
            </a:r>
            <a:endParaRPr b="0" sz="1850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21" name="Google Shape;721;p64" title="RQ3_Google_Routes_Commut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00" y="1128038"/>
            <a:ext cx="8839204" cy="2887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65"/>
          <p:cNvSpPr txBox="1"/>
          <p:nvPr>
            <p:ph idx="32" type="title"/>
          </p:nvPr>
        </p:nvSpPr>
        <p:spPr>
          <a:xfrm>
            <a:off x="283675" y="13948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Individual Timelines</a:t>
            </a:r>
            <a:endParaRPr/>
          </a:p>
        </p:txBody>
      </p:sp>
      <p:pic>
        <p:nvPicPr>
          <p:cNvPr id="727" name="Google Shape;727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176" y="139475"/>
            <a:ext cx="4317674" cy="486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8" name="Google Shape;728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900" y="1354214"/>
            <a:ext cx="1255126" cy="385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900" y="573275"/>
            <a:ext cx="3570000" cy="780934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5"/>
          <p:cNvSpPr txBox="1"/>
          <p:nvPr/>
        </p:nvSpPr>
        <p:spPr>
          <a:xfrm>
            <a:off x="5037000" y="2250725"/>
            <a:ext cx="3822300" cy="22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aphicFrame>
        <p:nvGraphicFramePr>
          <p:cNvPr id="731" name="Google Shape;731;p65"/>
          <p:cNvGraphicFramePr/>
          <p:nvPr/>
        </p:nvGraphicFramePr>
        <p:xfrm>
          <a:off x="238900" y="184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{61C9EF12-0322-4B04-8911-A4C60C979E15}</a:tableStyleId>
              </a:tblPr>
              <a:tblGrid>
                <a:gridCol w="3770675"/>
              </a:tblGrid>
              <a:tr h="8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Visits columns: ['person', 'startTime', 'endTime', 'placeId', 'semanticType', 'probability', 'geometry', 'start_hour', 'time_of_day', 'day_name', 'day_number', 'duration', 'time_since_epoch', 'minutes_since_epoch', 'global_sequence_id', 'on_campus', 'place_name', 'place_address', 'place_name_clean', 'end_hour']</a:t>
                      </a:r>
                      <a:endParaRPr b="1" sz="8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3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Activities columns: ['person', 'startTime', 'endTime', 'activityType', 'distanceMeters', 'probability', 'startPoint', 'endPoint', 'geometry', 'start_hour', 'time_of_day', 'day_name', 'day_number', 'duration', 'time_since_epoch', 'minutes_since_epoch', 'global_sequence_id', 'on_campus']</a:t>
                      </a:r>
                      <a:endParaRPr b="1" sz="800">
                        <a:solidFill>
                          <a:srgbClr val="D4D4D4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831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D4D4D4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Paths columns: ['person', 'startTime', 'endTime', 'pointCount', 'geometry', 'start_hour', 'time_of_day', 'day_name', 'day_number', 'duration', 'time_since_epoch', 'minutes_since_epoch', 'global_sequence_id', 'on_campus', 'distance_miles']</a:t>
                      </a:r>
                      <a:endParaRPr b="1" sz="80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6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